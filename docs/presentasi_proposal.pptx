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transition p:advanceOnClick="1" p:advanceMode="onClick">
    <p:morph/>
  </p:transition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0"/>
          </a:xfrm>
          <a:prstGeom prst="rect">
            <a:avLst/>
          </a:prstGeom>
          <a:solidFill>
            <a:srgbClr val="4A6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olihasnur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0047" y="548640"/>
            <a:ext cx="1371600" cy="12978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371600" y="2011680"/>
            <a:ext cx="9418320" cy="18288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RANCANG BANGUN SISTEM PRESENSI SISWA
DENGAN FITUR FACE RECOGNITION
BERBASIS WEB DAN ANDROID
DI SMKN 1 MARABAHAN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4297680"/>
            <a:ext cx="48463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4A6CF7"/>
                </a:solidFill>
                <a:latin typeface="Calibri"/>
              </a:rPr>
              <a:t>PROPOSAL TUGAS AKHIR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4846320"/>
            <a:ext cx="850392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6B7280"/>
                </a:solidFill>
                <a:latin typeface="Calibri"/>
              </a:rPr>
              <a:t>Ahmad Nuur Fu'ady  |  24302064
Program Studi D3 Teknik Informatika
Politeknik Hasnur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1 /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transition p:advanceOnClick="1" p:advanceMode="onClick">
    <p:morph/>
  </p:transition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4A6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82880"/>
            <a:ext cx="9997135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Latar Belakang Masalah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91695" cy="3657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2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20840"/>
            <a:ext cx="12191695" cy="18288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54864" cy="4114800"/>
          </a:xfrm>
          <a:prstGeom prst="rect">
            <a:avLst/>
          </a:prstGeom>
          <a:solidFill>
            <a:srgbClr val="4A6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463040"/>
            <a:ext cx="9997135" cy="45720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ct val="150000"/>
              </a:lnSpc>
              <a:spcBef>
                <a:spcPts val="200"/>
              </a:spcBef>
              <a:spcAft>
                <a:spcPts val="600"/>
              </a:spcAft>
              <a:defRPr sz="1600">
                <a:solidFill>
                  <a:srgbClr val="1A1A2E"/>
                </a:solidFill>
                <a:latin typeface="Calibri"/>
              </a:defRPr>
            </a:pPr>
            <a:r>
              <a:t>• SMKN 1 Marabahan memiliki 575 siswa aktif (per April 2026), proses presensi masih menggunakan buku kertas — rekap lambat, rawan manipulasi data.</a:t>
            </a:r>
          </a:p>
          <a:p>
            <a:pPr>
              <a:lnSpc>
                <a:spcPct val="150000"/>
              </a:lnSpc>
              <a:spcBef>
                <a:spcPts val="200"/>
              </a:spcBef>
              <a:spcAft>
                <a:spcPts val="600"/>
              </a:spcAft>
              <a:defRPr sz="1600">
                <a:solidFill>
                  <a:srgbClr val="1A1A2E"/>
                </a:solidFill>
                <a:latin typeface="Calibri"/>
              </a:defRPr>
            </a:pPr>
            <a:r>
              <a:t>• Fingerprint juga kurang efektif: sering gagal baca sidik jari (basah/kotor), antrean panjang, kontak fisik tidak higienis.</a:t>
            </a:r>
          </a:p>
          <a:p>
            <a:pPr>
              <a:lnSpc>
                <a:spcPct val="150000"/>
              </a:lnSpc>
              <a:spcBef>
                <a:spcPts val="200"/>
              </a:spcBef>
              <a:spcAft>
                <a:spcPts val="600"/>
              </a:spcAft>
              <a:defRPr sz="1600">
                <a:solidFill>
                  <a:srgbClr val="1A1A2E"/>
                </a:solidFill>
                <a:latin typeface="Calibri"/>
              </a:defRPr>
            </a:pPr>
            <a:r>
              <a:t>• Solusi: sistem presensi berbasis Face Recognition via Android — siswa cukup menatap kamera, proses cepat &amp; tanpa kontak fisik.</a:t>
            </a:r>
          </a:p>
          <a:p>
            <a:pPr>
              <a:lnSpc>
                <a:spcPct val="150000"/>
              </a:lnSpc>
              <a:spcBef>
                <a:spcPts val="200"/>
              </a:spcBef>
              <a:spcAft>
                <a:spcPts val="600"/>
              </a:spcAft>
              <a:defRPr sz="1600">
                <a:solidFill>
                  <a:srgbClr val="1A1A2E"/>
                </a:solidFill>
                <a:latin typeface="Calibri"/>
              </a:defRPr>
            </a:pPr>
            <a:r>
              <a:t>• Dilengkapi Liveness Detection (deteksi kedipan mata) untuk mencegah kecurangan menggunakan foto/video (anti-spoofing).</a:t>
            </a:r>
          </a:p>
          <a:p>
            <a:pPr>
              <a:lnSpc>
                <a:spcPct val="150000"/>
              </a:lnSpc>
              <a:spcBef>
                <a:spcPts val="200"/>
              </a:spcBef>
              <a:spcAft>
                <a:spcPts val="600"/>
              </a:spcAft>
              <a:defRPr sz="1600">
                <a:solidFill>
                  <a:srgbClr val="1A1A2E"/>
                </a:solidFill>
                <a:latin typeface="Calibri"/>
              </a:defRPr>
            </a:pPr>
            <a:r>
              <a:t>• Sistem terintegrasi dengan web dashboard untuk monitoring oleh Guru, TU, dan Orang Tua siswa.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transition p:advanceOnClick="1" p:advanceMode="onClick">
    <p:morph/>
  </p:transition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4A6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82880"/>
            <a:ext cx="9997135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Rumusan Masalah &amp; Batasan Masalah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91695" cy="3657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3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20840"/>
            <a:ext cx="12191695" cy="18288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54864" cy="914400"/>
          </a:xfrm>
          <a:prstGeom prst="rect">
            <a:avLst/>
          </a:prstGeom>
          <a:solidFill>
            <a:srgbClr val="4A6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371600"/>
            <a:ext cx="1828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4A6CF7"/>
                </a:solidFill>
                <a:latin typeface="Calibri"/>
              </a:rPr>
              <a:t>RUMUSAN MASALAH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783080"/>
            <a:ext cx="9997135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A1A2E"/>
                </a:solidFill>
                <a:latin typeface="Calibri"/>
              </a:rPr>
              <a:t>"Bagaimana mengimplementasikan teknologi pengenalan wajah (face recognition) pada aplikasi presensi Android guna memfasilitasi input data kehadiran secara efisien di SMKN 1 Marabahan?"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560320"/>
            <a:ext cx="54864" cy="36576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560320"/>
            <a:ext cx="2743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EA5E9"/>
                </a:solidFill>
                <a:latin typeface="Calibri"/>
              </a:rPr>
              <a:t>BATASAN MASALAH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971800"/>
            <a:ext cx="9997135" cy="32004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ct val="140000"/>
              </a:lnSpc>
              <a:spcBef>
                <a:spcPts val="200"/>
              </a:spcBef>
              <a:spcAft>
                <a:spcPts val="6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▸ Lingkungan: SMKN 1 Marabahan</a:t>
            </a:r>
          </a:p>
          <a:p>
            <a:pPr>
              <a:lnSpc>
                <a:spcPct val="140000"/>
              </a:lnSpc>
              <a:spcBef>
                <a:spcPts val="200"/>
              </a:spcBef>
              <a:spcAft>
                <a:spcPts val="6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▸ 4 peran pengguna: Siswa (Android), Orang Tua (Web), Guru (Web), TU (Web)</a:t>
            </a:r>
          </a:p>
          <a:p>
            <a:pPr>
              <a:lnSpc>
                <a:spcPct val="140000"/>
              </a:lnSpc>
              <a:spcBef>
                <a:spcPts val="200"/>
              </a:spcBef>
              <a:spcAft>
                <a:spcPts val="6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▸ Metode Waterfall (analisis hingga pengujian)</a:t>
            </a:r>
          </a:p>
          <a:p>
            <a:pPr>
              <a:lnSpc>
                <a:spcPct val="140000"/>
              </a:lnSpc>
              <a:spcBef>
                <a:spcPts val="200"/>
              </a:spcBef>
              <a:spcAft>
                <a:spcPts val="6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▸ UML: Use Case Diagram, Class Diagram, ERD</a:t>
            </a:r>
          </a:p>
          <a:p>
            <a:pPr>
              <a:lnSpc>
                <a:spcPct val="140000"/>
              </a:lnSpc>
              <a:spcBef>
                <a:spcPts val="200"/>
              </a:spcBef>
              <a:spcAft>
                <a:spcPts val="6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▸ Teknologi: Kotlin (Android), Python/FastAPI (Backend), React JS (Web)</a:t>
            </a:r>
          </a:p>
          <a:p>
            <a:pPr>
              <a:lnSpc>
                <a:spcPct val="140000"/>
              </a:lnSpc>
              <a:spcBef>
                <a:spcPts val="200"/>
              </a:spcBef>
              <a:spcAft>
                <a:spcPts val="6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▸ Pengujian: Black-box Testing</a:t>
            </a:r>
          </a:p>
          <a:p>
            <a:pPr>
              <a:lnSpc>
                <a:spcPct val="140000"/>
              </a:lnSpc>
              <a:spcBef>
                <a:spcPts val="200"/>
              </a:spcBef>
              <a:spcAft>
                <a:spcPts val="6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▸ Pre-trained model ArcFace + RetinaFace (DeepFace)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transition p:advanceOnClick="1" p:advanceMode="onClick">
    <p:morph/>
  </p:transition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4A6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82880"/>
            <a:ext cx="9997135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Tujuan &amp; Manfaat Penelitian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91695" cy="3657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4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20840"/>
            <a:ext cx="12191695" cy="18288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54864" cy="914400"/>
          </a:xfrm>
          <a:prstGeom prst="rect">
            <a:avLst/>
          </a:prstGeom>
          <a:solidFill>
            <a:srgbClr val="4A6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371600"/>
            <a:ext cx="1828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4A6CF7"/>
                </a:solidFill>
                <a:latin typeface="Calibri"/>
              </a:rPr>
              <a:t>TUJUAN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783080"/>
            <a:ext cx="9997135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A1A2E"/>
                </a:solidFill>
                <a:latin typeface="Calibri"/>
              </a:rPr>
              <a:t>Mengimplementasikan face recognition pada aplikasi presensi Android untuk input data kehadiran yang efisien di SMKN 1 Marabahan.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468880"/>
            <a:ext cx="2743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4A6CF7"/>
                </a:solidFill>
                <a:latin typeface="Calibri"/>
              </a:rPr>
              <a:t>MANFAAT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29487" y="3017520"/>
            <a:ext cx="2377440" cy="25603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29487" y="3017520"/>
            <a:ext cx="237744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12367" y="3200400"/>
            <a:ext cx="20116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0B981"/>
                </a:solidFill>
                <a:latin typeface="Calibri"/>
              </a:rPr>
              <a:t>Sekolah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2367" y="3749040"/>
            <a:ext cx="2011680" cy="164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Transformasi digital,
kedisiplinan siswa,
 efisiensi operasional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81247" y="3017520"/>
            <a:ext cx="2377440" cy="25603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581247" y="3017520"/>
            <a:ext cx="2377440" cy="54864"/>
          </a:xfrm>
          <a:prstGeom prst="rect">
            <a:avLst/>
          </a:prstGeom>
          <a:solidFill>
            <a:srgbClr val="4A6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64127" y="3200400"/>
            <a:ext cx="20116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A6CF7"/>
                </a:solidFill>
                <a:latin typeface="Calibri"/>
              </a:rPr>
              <a:t>Orang Tua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64127" y="3749040"/>
            <a:ext cx="2011680" cy="164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Pantau kehadiran
anak secara
real-time via web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33007" y="3017520"/>
            <a:ext cx="2377440" cy="25603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33007" y="3017520"/>
            <a:ext cx="2377440" cy="5486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15887" y="3200400"/>
            <a:ext cx="20116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EA5E9"/>
                </a:solidFill>
                <a:latin typeface="Calibri"/>
              </a:rPr>
              <a:t>Siswa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5887" y="3749040"/>
            <a:ext cx="2011680" cy="164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Pengalaman AI,
presensi cepat
tanpa antre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884767" y="3017520"/>
            <a:ext cx="2377440" cy="25603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884767" y="3017520"/>
            <a:ext cx="237744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67647" y="3200400"/>
            <a:ext cx="20116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59E0B"/>
                </a:solidFill>
                <a:latin typeface="Calibri"/>
              </a:rPr>
              <a:t>Peneliti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67647" y="3749040"/>
            <a:ext cx="2011680" cy="164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Implementasi
RetinaFace +
ArcFace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transition p:advanceOnClick="1" p:advanceMode="onClick">
    <p:morph/>
  </p:transition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4A6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82880"/>
            <a:ext cx="9997135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Dasar Teori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91695" cy="3657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5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20840"/>
            <a:ext cx="12191695" cy="18288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9447" y="1463040"/>
            <a:ext cx="2606040" cy="292608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9447" y="1463040"/>
            <a:ext cx="2606040" cy="54864"/>
          </a:xfrm>
          <a:prstGeom prst="rect">
            <a:avLst/>
          </a:prstGeom>
          <a:solidFill>
            <a:srgbClr val="4A6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6607" y="1645920"/>
            <a:ext cx="23317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4A6CF7"/>
                </a:solidFill>
                <a:latin typeface="Calibri"/>
              </a:rPr>
              <a:t>Face Recognition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6607" y="2240280"/>
            <a:ext cx="233172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A1A2E"/>
                </a:solidFill>
                <a:latin typeface="Calibri"/>
              </a:rPr>
              <a:t>• ArcFace: loss function dgn
Additive Angular Margin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6607" y="2926080"/>
            <a:ext cx="233172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A1A2E"/>
                </a:solidFill>
                <a:latin typeface="Calibri"/>
              </a:rPr>
              <a:t>• RetinaFace: one-stage
face detector (2019)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6607" y="3611880"/>
            <a:ext cx="233172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A1A2E"/>
                </a:solidFill>
                <a:latin typeface="Calibri"/>
              </a:rPr>
              <a:t>• DeepFace library dgn
Cosine Similarity (&gt;= 0.60)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98367" y="1463040"/>
            <a:ext cx="2606040" cy="292608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98367" y="1463040"/>
            <a:ext cx="2606040" cy="5486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35527" y="1645920"/>
            <a:ext cx="23317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EA5E9"/>
                </a:solidFill>
                <a:latin typeface="Calibri"/>
              </a:rPr>
              <a:t>Android App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35527" y="2240280"/>
            <a:ext cx="233172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A1A2E"/>
                </a:solidFill>
                <a:latin typeface="Calibri"/>
              </a:rPr>
              <a:t>• Kotlin + CameraX 1.4.1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35527" y="2926080"/>
            <a:ext cx="233172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A1A2E"/>
                </a:solidFill>
                <a:latin typeface="Calibri"/>
              </a:rPr>
              <a:t>• MLKit Face Detection
(pose yaw angle)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35527" y="3611880"/>
            <a:ext cx="233172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A1A2E"/>
                </a:solidFill>
                <a:latin typeface="Calibri"/>
              </a:rPr>
              <a:t>• Retrofit 2.9 + OkHttp
(multipart upload)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87287" y="1463040"/>
            <a:ext cx="2606040" cy="292608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87287" y="1463040"/>
            <a:ext cx="260604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24447" y="1645920"/>
            <a:ext cx="23317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0B981"/>
                </a:solidFill>
                <a:latin typeface="Calibri"/>
              </a:rPr>
              <a:t>Backend API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24447" y="2240280"/>
            <a:ext cx="233172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A1A2E"/>
                </a:solidFill>
                <a:latin typeface="Calibri"/>
              </a:rPr>
              <a:t>• Python FastAPI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24447" y="2926080"/>
            <a:ext cx="233172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A1A2E"/>
                </a:solidFill>
                <a:latin typeface="Calibri"/>
              </a:rPr>
              <a:t>• SQLAlchemy ORM + MySQL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24447" y="3611880"/>
            <a:ext cx="233172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A1A2E"/>
                </a:solidFill>
                <a:latin typeface="Calibri"/>
              </a:rPr>
              <a:t>• JWT Authentication
(HS256, 24h expiry)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76207" y="1463040"/>
            <a:ext cx="2606040" cy="292608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76207" y="1463040"/>
            <a:ext cx="260604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13367" y="1645920"/>
            <a:ext cx="23317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59E0B"/>
                </a:solidFill>
                <a:latin typeface="Calibri"/>
              </a:rPr>
              <a:t>Web Dashboard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13367" y="2240280"/>
            <a:ext cx="233172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A1A2E"/>
                </a:solidFill>
                <a:latin typeface="Calibri"/>
              </a:rPr>
              <a:t>• React 19 + Vite 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13367" y="2926080"/>
            <a:ext cx="233172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A1A2E"/>
                </a:solidFill>
                <a:latin typeface="Calibri"/>
              </a:rPr>
              <a:t>• Ant Design 6 UI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13367" y="3611880"/>
            <a:ext cx="233172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A1A2E"/>
                </a:solidFill>
                <a:latin typeface="Calibri"/>
              </a:rPr>
              <a:t>• Axios + Chart Analytics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97280" y="4754880"/>
            <a:ext cx="9997135" cy="128016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097280" y="4754880"/>
            <a:ext cx="9997135" cy="54864"/>
          </a:xfrm>
          <a:prstGeom prst="rect">
            <a:avLst/>
          </a:prstGeom>
          <a:solidFill>
            <a:srgbClr val="4A6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80160" y="4892040"/>
            <a:ext cx="2743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4A6CF7"/>
                </a:solidFill>
                <a:latin typeface="Calibri"/>
              </a:rPr>
              <a:t>Metodologi &amp; Tools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80160" y="5257800"/>
            <a:ext cx="9631375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Metode Waterfall  |  UML (Use Case, Class Diagram, ERD)  |  Figma (Wireframe)  |  VS Code + Android Studio  |  Black-box Testing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transition p:advanceOnClick="1" p:advanceMode="onClick">
    <p:morph/>
  </p:transition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4A6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82880"/>
            <a:ext cx="9997135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Arsitektur Sistem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91695" cy="3657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6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20840"/>
            <a:ext cx="12191695" cy="18288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828800"/>
            <a:ext cx="2743200" cy="2286000"/>
          </a:xfrm>
          <a:prstGeom prst="rect">
            <a:avLst/>
          </a:prstGeom>
          <a:solidFill>
            <a:srgbClr val="4A6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965960"/>
            <a:ext cx="246888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Aplikasi Android
(Kotlin)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560320"/>
            <a:ext cx="2194560" cy="182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651760"/>
            <a:ext cx="246888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• CameraX + MLKit
• Face Detection
• 3 Pose Capture
• Retrofit HTTP Client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0" y="1463040"/>
            <a:ext cx="3200400" cy="301752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80" y="1600200"/>
            <a:ext cx="292608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FastAPI Server
(Python)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63440" y="2194560"/>
            <a:ext cx="2651760" cy="182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2286000"/>
            <a:ext cx="2926080" cy="21031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• Face Registration
• Face Attendance
• Auth (JWT)
• CRUD API
• DeepFace ArcFace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89120" y="4754880"/>
            <a:ext cx="3200400" cy="10972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6280" y="4892040"/>
            <a:ext cx="292608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Database
MySQL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63440" y="5486400"/>
            <a:ext cx="2651760" cy="182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6280" y="5577840"/>
            <a:ext cx="292608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• 8 Tabel: jurusan, kelas, siswa,
face_data, absensi, users, guru, guru_kelas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778240" y="1828800"/>
            <a:ext cx="2743200" cy="2286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15400" y="1965960"/>
            <a:ext cx="246888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Web Dashboard
(React JS)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52560" y="2560320"/>
            <a:ext cx="2194560" cy="182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15400" y="2651760"/>
            <a:ext cx="246888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• Ant Design UI
• Login (Guru/TU/Ortu)
• Dashboard Analytics
• CRUD &amp; Export Excel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0" y="2743200"/>
            <a:ext cx="118872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6B7280"/>
                </a:solidFill>
                <a:latin typeface="Calibri"/>
              </a:rPr>
              <a:t>Retrofit
HTTP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9520" y="2743200"/>
            <a:ext cx="118872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6B7280"/>
                </a:solidFill>
                <a:latin typeface="Calibri"/>
              </a:rPr>
              <a:t>Axios
HTTP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89520" y="4754880"/>
            <a:ext cx="118872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6B7280"/>
                </a:solidFill>
                <a:latin typeface="Calibri"/>
              </a:rPr>
              <a:t>SQLAlchemy
ORM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4754880"/>
            <a:ext cx="2743200" cy="109728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" y="4846320"/>
            <a:ext cx="246888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A1A2E"/>
                </a:solidFill>
                <a:latin typeface="Calibri"/>
              </a:rPr>
              <a:t>Face Pipeline:
Camera → MLKit Detect →
DeepFace ArcFace →
Cosine Similarity ≥ 0.60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0" y="5029200"/>
            <a:ext cx="256032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>Alur Data:
Android ↔ API ↔ DB
Web ↔ API ↔ DB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transition p:advanceOnClick="1" p:advanceMode="onClick">
    <p:morph/>
  </p:transition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4A6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82880"/>
            <a:ext cx="9997135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Metode Waterfall – Tahap 1 &amp;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685800"/>
            <a:ext cx="9997135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CD5FF"/>
                </a:solidFill>
                <a:latin typeface="Calibri"/>
              </a:rPr>
              <a:t>Analisis Kebutuhan &amp; Perancangan Sistem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12191695" cy="3657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7 / 10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20840"/>
            <a:ext cx="12191695" cy="18288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463040"/>
            <a:ext cx="5303520" cy="23774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463040"/>
            <a:ext cx="54864" cy="2377440"/>
          </a:xfrm>
          <a:prstGeom prst="rect">
            <a:avLst/>
          </a:prstGeom>
          <a:solidFill>
            <a:srgbClr val="4A6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554480"/>
            <a:ext cx="4572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A6CF7"/>
                </a:solidFill>
                <a:latin typeface="Calibri"/>
              </a:rPr>
              <a:t>Tahap 1 : Analisis Kebutuhan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011680"/>
            <a:ext cx="4754880" cy="18288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ct val="150000"/>
              </a:lnSpc>
              <a:spcBef>
                <a:spcPts val="200"/>
              </a:spcBef>
              <a:spcAft>
                <a:spcPts val="600"/>
              </a:spcAft>
              <a:defRPr sz="1300">
                <a:solidFill>
                  <a:srgbClr val="1A1A2E"/>
                </a:solidFill>
                <a:latin typeface="Calibri"/>
              </a:defRPr>
            </a:pPr>
            <a:r>
              <a:t>▸ Observasi langsung di SMKN 1 Marabahan</a:t>
            </a:r>
            <a:br/>
            <a:r>
              <a:t>(4 Mei 2026, proses presesi pagi hari)</a:t>
            </a:r>
          </a:p>
          <a:p>
            <a:pPr>
              <a:lnSpc>
                <a:spcPct val="150000"/>
              </a:lnSpc>
              <a:spcBef>
                <a:spcPts val="200"/>
              </a:spcBef>
              <a:spcAft>
                <a:spcPts val="600"/>
              </a:spcAft>
              <a:defRPr sz="1300">
                <a:solidFill>
                  <a:srgbClr val="1A1A2E"/>
                </a:solidFill>
                <a:latin typeface="Calibri"/>
              </a:defRPr>
            </a:pPr>
            <a:r>
              <a:t>▸ Wawancara dengan Bapak Ridwan (Staff TU)</a:t>
            </a:r>
            <a:br/>
            <a:r>
              <a:t>mengenai alur presensi &amp; kendala</a:t>
            </a:r>
          </a:p>
          <a:p>
            <a:pPr>
              <a:lnSpc>
                <a:spcPct val="150000"/>
              </a:lnSpc>
              <a:spcBef>
                <a:spcPts val="200"/>
              </a:spcBef>
              <a:spcAft>
                <a:spcPts val="600"/>
              </a:spcAft>
              <a:defRPr sz="1300">
                <a:solidFill>
                  <a:srgbClr val="1A1A2E"/>
                </a:solidFill>
                <a:latin typeface="Calibri"/>
              </a:defRPr>
            </a:pPr>
            <a:r>
              <a:t>▸ Studi pustaka: 9+ jurnal referensi</a:t>
            </a:r>
          </a:p>
          <a:p>
            <a:pPr>
              <a:lnSpc>
                <a:spcPct val="150000"/>
              </a:lnSpc>
              <a:spcBef>
                <a:spcPts val="200"/>
              </a:spcBef>
              <a:spcAft>
                <a:spcPts val="600"/>
              </a:spcAft>
              <a:defRPr sz="1300">
                <a:solidFill>
                  <a:srgbClr val="1A1A2E"/>
                </a:solidFill>
                <a:latin typeface="Calibri"/>
              </a:defRPr>
            </a:pPr>
            <a:r>
              <a:t>▸ Identifikasi kebutuhan fungsional</a:t>
            </a:r>
            <a:br/>
            <a:r>
              <a:t>&amp; non-fungsional sistem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1463040"/>
            <a:ext cx="5303520" cy="23774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26480" y="1463040"/>
            <a:ext cx="54864" cy="23774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554480"/>
            <a:ext cx="4572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EA5E9"/>
                </a:solidFill>
                <a:latin typeface="Calibri"/>
              </a:rPr>
              <a:t>Tahap 2 : Perancangan Sistem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011680"/>
            <a:ext cx="4754880" cy="18288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ct val="150000"/>
              </a:lnSpc>
              <a:spcBef>
                <a:spcPts val="200"/>
              </a:spcBef>
              <a:spcAft>
                <a:spcPts val="600"/>
              </a:spcAft>
              <a:defRPr sz="1300">
                <a:solidFill>
                  <a:srgbClr val="1A1A2E"/>
                </a:solidFill>
                <a:latin typeface="Calibri"/>
              </a:defRPr>
            </a:pPr>
            <a:r>
              <a:t>▸ Arsitektur client-server</a:t>
            </a:r>
            <a:br/>
            <a:r>
              <a:t>(Android + Web + API)</a:t>
            </a:r>
          </a:p>
          <a:p>
            <a:pPr>
              <a:lnSpc>
                <a:spcPct val="150000"/>
              </a:lnSpc>
              <a:spcBef>
                <a:spcPts val="200"/>
              </a:spcBef>
              <a:spcAft>
                <a:spcPts val="600"/>
              </a:spcAft>
              <a:defRPr sz="1300">
                <a:solidFill>
                  <a:srgbClr val="1A1A2E"/>
                </a:solidFill>
                <a:latin typeface="Calibri"/>
              </a:defRPr>
            </a:pPr>
            <a:r>
              <a:t>▸ Use Case Diagram (4 aktor)</a:t>
            </a:r>
          </a:p>
          <a:p>
            <a:pPr>
              <a:lnSpc>
                <a:spcPct val="150000"/>
              </a:lnSpc>
              <a:spcBef>
                <a:spcPts val="200"/>
              </a:spcBef>
              <a:spcAft>
                <a:spcPts val="600"/>
              </a:spcAft>
              <a:defRPr sz="1300">
                <a:solidFill>
                  <a:srgbClr val="1A1A2E"/>
                </a:solidFill>
                <a:latin typeface="Calibri"/>
              </a:defRPr>
            </a:pPr>
            <a:r>
              <a:t>▸ Class Diagram (8 kelas model)</a:t>
            </a:r>
          </a:p>
          <a:p>
            <a:pPr>
              <a:lnSpc>
                <a:spcPct val="150000"/>
              </a:lnSpc>
              <a:spcBef>
                <a:spcPts val="200"/>
              </a:spcBef>
              <a:spcAft>
                <a:spcPts val="600"/>
              </a:spcAft>
              <a:defRPr sz="1300">
                <a:solidFill>
                  <a:srgbClr val="1A1A2E"/>
                </a:solidFill>
                <a:latin typeface="Calibri"/>
              </a:defRPr>
            </a:pPr>
            <a:r>
              <a:t>▸ Entity Relationship Diagram (ERD)</a:t>
            </a:r>
          </a:p>
          <a:p>
            <a:pPr>
              <a:lnSpc>
                <a:spcPct val="150000"/>
              </a:lnSpc>
              <a:spcBef>
                <a:spcPts val="200"/>
              </a:spcBef>
              <a:spcAft>
                <a:spcPts val="600"/>
              </a:spcAft>
              <a:defRPr sz="1300">
                <a:solidFill>
                  <a:srgbClr val="1A1A2E"/>
                </a:solidFill>
                <a:latin typeface="Calibri"/>
              </a:defRPr>
            </a:pPr>
            <a:r>
              <a:t>▸ Wireframe medium fidelity (Figma)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206240"/>
            <a:ext cx="10972800" cy="16459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4206240"/>
            <a:ext cx="10972800" cy="54864"/>
          </a:xfrm>
          <a:prstGeom prst="rect">
            <a:avLst/>
          </a:prstGeom>
          <a:solidFill>
            <a:srgbClr val="4A6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389120"/>
            <a:ext cx="104241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4A6CF7"/>
                </a:solidFill>
                <a:latin typeface="Calibri"/>
              </a:rPr>
              <a:t>Hasil Perancangan: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800600"/>
            <a:ext cx="10424160" cy="1097280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ct val="140000"/>
              </a:lnSpc>
              <a:spcBef>
                <a:spcPts val="200"/>
              </a:spcBef>
              <a:spcAft>
                <a:spcPts val="6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▸ Sistem Android untuk presensi siswa dengan fitur face recognition (3 pose capture + scan wajah)</a:t>
            </a:r>
          </a:p>
          <a:p>
            <a:pPr>
              <a:lnSpc>
                <a:spcPct val="140000"/>
              </a:lnSpc>
              <a:spcBef>
                <a:spcPts val="200"/>
              </a:spcBef>
              <a:spcAft>
                <a:spcPts val="6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▸ Web Dashboard untuk Guru (rekap absensi, ubah status) dan TU (CRUD master, export Excel)</a:t>
            </a:r>
          </a:p>
          <a:p>
            <a:pPr>
              <a:lnSpc>
                <a:spcPct val="140000"/>
              </a:lnSpc>
              <a:spcBef>
                <a:spcPts val="200"/>
              </a:spcBef>
              <a:spcAft>
                <a:spcPts val="6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▸ Web Portal untuk Orang Tua (pantau kehadiran anak via NISN)</a:t>
            </a:r>
          </a:p>
          <a:p>
            <a:pPr>
              <a:lnSpc>
                <a:spcPct val="140000"/>
              </a:lnSpc>
              <a:spcBef>
                <a:spcPts val="200"/>
              </a:spcBef>
              <a:spcAft>
                <a:spcPts val="6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▸ Backend API FastAPI dengan DeepFace ArcFace untuk verifikasi wajah (cosine similarity ≥ 0.60)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transition p:advanceOnClick="1" p:advanceMode="onClick">
    <p:morph/>
  </p:transition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4A6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82880"/>
            <a:ext cx="9997135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Metode Waterfall – Tahap 3 &amp;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685800"/>
            <a:ext cx="9997135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CD5FF"/>
                </a:solidFill>
                <a:latin typeface="Calibri"/>
              </a:rPr>
              <a:t>Implementasi &amp; Pengujian Sistem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12191695" cy="3657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8 / 10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20840"/>
            <a:ext cx="12191695" cy="18288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463040"/>
            <a:ext cx="5303520" cy="2743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463040"/>
            <a:ext cx="54864" cy="2743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554480"/>
            <a:ext cx="4572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0B981"/>
                </a:solidFill>
                <a:latin typeface="Calibri"/>
              </a:rPr>
              <a:t>Tahap 3 : Implementasi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011680"/>
            <a:ext cx="4754880" cy="2103120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ct val="150000"/>
              </a:lnSpc>
              <a:spcBef>
                <a:spcPts val="200"/>
              </a:spcBef>
              <a:spcAft>
                <a:spcPts val="600"/>
              </a:spcAft>
              <a:defRPr sz="1300">
                <a:solidFill>
                  <a:srgbClr val="1A1A2E"/>
                </a:solidFill>
                <a:latin typeface="Calibri"/>
              </a:defRPr>
            </a:pPr>
            <a:r>
              <a:t>▸ Android Studio (Kotlin + XML) —</a:t>
            </a:r>
            <a:br/>
            <a:r>
              <a:t>Aplikasi presensi dengan CameraX &amp;</a:t>
            </a:r>
            <a:br/>
            <a:r>
              <a:t>MLKit Face Detection</a:t>
            </a:r>
          </a:p>
          <a:p>
            <a:pPr>
              <a:lnSpc>
                <a:spcPct val="150000"/>
              </a:lnSpc>
              <a:spcBef>
                <a:spcPts val="200"/>
              </a:spcBef>
              <a:spcAft>
                <a:spcPts val="600"/>
              </a:spcAft>
              <a:defRPr sz="1300">
                <a:solidFill>
                  <a:srgbClr val="1A1A2E"/>
                </a:solidFill>
                <a:latin typeface="Calibri"/>
              </a:defRPr>
            </a:pPr>
            <a:r>
              <a:t>▸ VS Code (Python FastAPI) —</a:t>
            </a:r>
            <a:br/>
            <a:r>
              <a:t>Backend REST API dengan SQLAlchemy</a:t>
            </a:r>
            <a:br/>
            <a:r>
              <a:t>ORM &amp; MySQL</a:t>
            </a:r>
          </a:p>
          <a:p>
            <a:pPr>
              <a:lnSpc>
                <a:spcPct val="150000"/>
              </a:lnSpc>
              <a:spcBef>
                <a:spcPts val="200"/>
              </a:spcBef>
              <a:spcAft>
                <a:spcPts val="600"/>
              </a:spcAft>
              <a:defRPr sz="1300">
                <a:solidFill>
                  <a:srgbClr val="1A1A2E"/>
                </a:solidFill>
                <a:latin typeface="Calibri"/>
              </a:defRPr>
            </a:pPr>
            <a:r>
              <a:t>▸ VS Code (React JS + Ant Design) —</a:t>
            </a:r>
            <a:br/>
            <a:r>
              <a:t>Web Dashboard responsive</a:t>
            </a:r>
          </a:p>
          <a:p>
            <a:pPr>
              <a:lnSpc>
                <a:spcPct val="150000"/>
              </a:lnSpc>
              <a:spcBef>
                <a:spcPts val="200"/>
              </a:spcBef>
              <a:spcAft>
                <a:spcPts val="600"/>
              </a:spcAft>
              <a:defRPr sz="1300">
                <a:solidFill>
                  <a:srgbClr val="1A1A2E"/>
                </a:solidFill>
                <a:latin typeface="Calibri"/>
              </a:defRPr>
            </a:pPr>
            <a:r>
              <a:t>▸ DeepFace (ArcFace + RetinaFace) —</a:t>
            </a:r>
            <a:br/>
            <a:r>
              <a:t>Face recognition engine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1463040"/>
            <a:ext cx="5303520" cy="2743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26480" y="1463040"/>
            <a:ext cx="54864" cy="2743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554480"/>
            <a:ext cx="4572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59E0B"/>
                </a:solidFill>
                <a:latin typeface="Calibri"/>
              </a:rPr>
              <a:t>Tahap 4 : Pengujian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011680"/>
            <a:ext cx="4754880" cy="21031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A1A2E"/>
                </a:solidFill>
                <a:latin typeface="Calibri"/>
              </a:rPr>
              <a:t>Metode: Black-box Testing
Fokus: Fungsionalitas fitur
Skenario uji:
▸ Registrasi wajah (3 pose)
▸ Scan presensi (Hadir/Tidak Dikenal)
▸ CRUD siswa &amp; guru
▸ Login role-based (Guru/TU/Siswa)
▸ Export Excel absensi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572000"/>
            <a:ext cx="10972800" cy="13716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4572000"/>
            <a:ext cx="10972800" cy="54864"/>
          </a:xfrm>
          <a:prstGeom prst="rect">
            <a:avLst/>
          </a:prstGeom>
          <a:solidFill>
            <a:srgbClr val="4A6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754880"/>
            <a:ext cx="2743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4A6CF7"/>
                </a:solidFill>
                <a:latin typeface="Calibri"/>
              </a:rPr>
              <a:t>Lingkungan Pengembangan: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212080"/>
            <a:ext cx="1042416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Android Studio (IDE Android)  |  VS Code (IDE Backend &amp; Web)  |  Laragon (Local Server)  |  Figma (Wireframe)  |  MySQL (Database)  |  Git (Version Control)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transition p:advanceOnClick="1" p:advanceMode="onClick">
    <p:morph/>
  </p:transition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4A6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82880"/>
            <a:ext cx="9997135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Diagram Perancangan Sistem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685800"/>
            <a:ext cx="9997135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CD5FF"/>
                </a:solidFill>
                <a:latin typeface="Calibri"/>
              </a:rPr>
              <a:t>Use Case Diagram  |  Class Diagram  |  ERD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12191695" cy="3657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9 / 10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20840"/>
            <a:ext cx="12191695" cy="18288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9447" y="1463040"/>
            <a:ext cx="3474720" cy="41148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9447" y="1463040"/>
            <a:ext cx="3474720" cy="54864"/>
          </a:xfrm>
          <a:prstGeom prst="rect">
            <a:avLst/>
          </a:prstGeom>
          <a:solidFill>
            <a:srgbClr val="4A6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6607" y="1645920"/>
            <a:ext cx="32004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A6CF7"/>
                </a:solidFill>
                <a:latin typeface="Calibri"/>
              </a:rPr>
              <a:t>Use Case Diagram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66647" y="2103120"/>
            <a:ext cx="2560320" cy="18288"/>
          </a:xfrm>
          <a:prstGeom prst="rect">
            <a:avLst/>
          </a:prstGeom>
          <a:solidFill>
            <a:srgbClr val="4A6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2327" y="2240280"/>
            <a:ext cx="3108960" cy="3200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A1A2E"/>
                </a:solidFill>
                <a:latin typeface="Calibri"/>
              </a:rPr>
              <a:t>4 aktor:
▸ Siswa (Android)
▸ Orang Tua (Web)
▸ Guru (Web)
▸ TU (Web)
Fitur utama:
▸ Registrasi Wajah
▸ Presensi Face Scan
▸ Monitoring Ortu
▸ Dashboard &amp; CRUD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58487" y="1463040"/>
            <a:ext cx="3474720" cy="41148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58487" y="1463040"/>
            <a:ext cx="3474720" cy="5486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95647" y="1645920"/>
            <a:ext cx="32004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EA5E9"/>
                </a:solidFill>
                <a:latin typeface="Calibri"/>
              </a:rPr>
              <a:t>Class Diagram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815687" y="2103120"/>
            <a:ext cx="2560320" cy="1828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41367" y="2240280"/>
            <a:ext cx="3108960" cy="3200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A1A2E"/>
                </a:solidFill>
                <a:latin typeface="Calibri"/>
              </a:rPr>
              <a:t>8 kelas model:
▸ Jurusan, Kelas, Siswa
▸ FaceData, Absensi
▸ User, Guru, GuruKelas
Android:
▸ ApiService, ApiClient
▸ MainActivity
▸ RegisterActivity
▸ CameraActivity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07527" y="1463040"/>
            <a:ext cx="3474720" cy="41148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07527" y="1463040"/>
            <a:ext cx="347472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44687" y="1645920"/>
            <a:ext cx="32004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0B981"/>
                </a:solidFill>
                <a:latin typeface="Calibri"/>
              </a:rPr>
              <a:t>ERD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564727" y="2103120"/>
            <a:ext cx="2560320" cy="1828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90407" y="2240280"/>
            <a:ext cx="3108960" cy="3200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A1A2E"/>
                </a:solidFill>
                <a:latin typeface="Calibri"/>
              </a:rPr>
              <a:t>Relasi database:
▸ Jurusan 1–* Kelas
▸ Kelas 1–* Siswa
▸ Siswa 1–* FaceData
▸ Siswa 1–* Absensi
▸ User 1–1 Guru
▸ User *–* Kelas
▸ User 1–* Absensi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5852160"/>
            <a:ext cx="94183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Diagram detail tersedia di file PlantUML: docs/use-case-diagram.puml, docs/class-diagram.puml, docs/erd.puml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transition p:advanceOnClick="1" p:advanceMode="onClick">
    <p:morph/>
  </p:transition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A6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olihasnur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0047" y="731520"/>
            <a:ext cx="1371600" cy="129783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0" y="2286000"/>
            <a:ext cx="12191695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800" b="1">
                <a:solidFill>
                  <a:srgbClr val="FFFFFF"/>
                </a:solidFill>
                <a:latin typeface="Calibri"/>
              </a:rPr>
              <a:t>Terima Kasih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74720"/>
            <a:ext cx="1219169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CCD5FF"/>
                </a:solidFill>
                <a:latin typeface="Calibri"/>
              </a:rPr>
              <a:t>Sesi Tanya Jawab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0" y="4389120"/>
            <a:ext cx="3017520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4663440"/>
            <a:ext cx="12191695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AABBFF"/>
                </a:solidFill>
                <a:latin typeface="Calibri"/>
              </a:rPr>
              <a:t>Ahmad Nuur Fu'ady  |  24302064
Program Studi D3 Teknik Informatika
Politeknik Hasnur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